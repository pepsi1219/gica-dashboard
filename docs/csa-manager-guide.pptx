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1828800"/>
            <a:ext cx="6400800" cy="6400800"/>
          </a:xfrm>
          <a:prstGeom prst="ellipse">
            <a:avLst/>
          </a:prstGeom>
          <a:solidFill>
            <a:srgbClr val="3B8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4E63"/>
                </a:solidFill>
                <a:latin typeface="Tahoma"/>
              </a:rPr>
              <a:t>📘  คู่มือการใช้งาน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Tahoma"/>
              </a:rPr>
              <a:t>CSA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Tahoma"/>
              </a:rPr>
              <a:t>โหมดผู้บริหาร · ดูข้อมูลอย่างเดียว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Tahoma"/>
              </a:rPr>
              <a:t>เข้าระบบได้ทันที · ไม่ต้องใช้รหัส · ดูข้อมูลทั้งหมด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Tahoma"/>
              </a:rPr>
              <a:t>New Operator Monitoring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วิธีเข้าสู่ระบบ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Tahoma"/>
              </a:rPr>
              <a:t>3 ขั้นตอน เข้าได้ทันทีโดยไม่ต้องใช้รหัส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71455" y="228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71455" y="24688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4E63"/>
                </a:solidFill>
                <a:latin typeface="Tahoma"/>
              </a:rPr>
              <a:t>CSA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1371600"/>
            <a:ext cx="347472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5207" y="1737360"/>
            <a:ext cx="914400" cy="914400"/>
          </a:xfrm>
          <a:prstGeom prst="ellipse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207" y="17373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30175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4E63"/>
                </a:solidFill>
                <a:latin typeface="Tahoma"/>
              </a:rPr>
              <a:t>เปิดเว็บไซต์ของระบบ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402336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2833"/>
                </a:solidFill>
                <a:latin typeface="Tahoma"/>
              </a:rPr>
              <a:t>ใส่ที่อยู่เว็บที่ทีมไอทีส่งให้ในเบราว์เซอร์</a:t>
            </a:r>
          </a:p>
          <a:p>
            <a:pPr algn="l"/>
            <a:r>
              <a:rPr sz="1400" b="0">
                <a:solidFill>
                  <a:srgbClr val="0E2833"/>
                </a:solidFill>
                <a:latin typeface="Tahoma"/>
              </a:rPr>
              <a:t>(เช่น Chrome หรือ Edge)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487" y="1371600"/>
            <a:ext cx="347472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24247" y="1737360"/>
            <a:ext cx="914400" cy="914400"/>
          </a:xfrm>
          <a:prstGeom prst="ellipse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247" y="17373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47" y="30175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4E63"/>
                </a:solidFill>
                <a:latin typeface="Tahoma"/>
              </a:rPr>
              <a:t>คลิกปุ่ม “สำหรับ CSA Manager”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402336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2833"/>
                </a:solidFill>
                <a:latin typeface="Tahoma"/>
              </a:rPr>
              <a:t>ที่หน้าเข้าสู่ระบบ จะเห็น 2 ปุ่ม</a:t>
            </a:r>
          </a:p>
          <a:p>
            <a:pPr algn="l"/>
            <a:r>
              <a:rPr sz="1400" b="0">
                <a:solidFill>
                  <a:srgbClr val="0E2833"/>
                </a:solidFill>
                <a:latin typeface="Tahoma"/>
              </a:rPr>
              <a:t>ให้เลือกปุ่มล่าง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527" y="1371600"/>
            <a:ext cx="3474720" cy="4389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73287" y="1737360"/>
            <a:ext cx="914400" cy="914400"/>
          </a:xfrm>
          <a:prstGeom prst="ellipse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3287" y="17373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3287" y="30175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4E63"/>
                </a:solidFill>
                <a:latin typeface="Tahoma"/>
              </a:rPr>
              <a:t>เข้าระบบสำเร็จ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3287" y="402336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E2833"/>
                </a:solidFill>
                <a:latin typeface="Tahoma"/>
              </a:rPr>
              <a:t>ระบบจะพาเข้าสู่หน้าแรกทันที</a:t>
            </a:r>
          </a:p>
          <a:p>
            <a:pPr algn="l"/>
            <a:r>
              <a:rPr sz="1400" b="0">
                <a:solidFill>
                  <a:srgbClr val="0E2833"/>
                </a:solidFill>
                <a:latin typeface="Tahoma"/>
              </a:rPr>
              <a:t>ไม่ต้องกรอก username/password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6035040"/>
            <a:ext cx="10362895" cy="502920"/>
          </a:xfrm>
          <a:prstGeom prst="roundRect">
            <a:avLst>
              <a:gd name="adj" fmla="val 10000"/>
            </a:avLst>
          </a:prstGeom>
          <a:solidFill>
            <a:srgbClr val="FFF8D8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608076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E2833"/>
                </a:solidFill>
                <a:latin typeface="Tahoma"/>
              </a:rPr>
              <a:t>💡  เคล็ดลับ: ปุ่ม “สำหรับ CSA Manager” จะอยู่ใต้ปุ่ม Sign in with Microsoft เสมอ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080"/>
                </a:solidFill>
                <a:latin typeface="Tahoma"/>
              </a:rPr>
              <a:t>New Operator Monitoring  ·  คู่มือผู้ใช้ CSA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080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หน้าแรก ① · เลือกหน่วยงาน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Tahoma"/>
              </a:rPr>
              <a:t>ส่วนบนสุดของหน้าแรก แสดงหน่วยงานทั้งหมดให้เลือกเข้าดูข้อมูล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71455" y="228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71455" y="24688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4E63"/>
                </a:solidFill>
                <a:latin typeface="Tahoma"/>
              </a:rPr>
              <a:t>CSA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4E63"/>
                </a:solidFill>
                <a:latin typeface="Tahoma"/>
              </a:rPr>
              <a:t>คุณจะเห็นอะไรบ้าง?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E2833"/>
                </a:solidFill>
                <a:latin typeface="Tahoma"/>
              </a:rPr>
              <a:t>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2833"/>
                </a:solidFill>
                <a:latin typeface="Tahoma"/>
              </a:rPr>
              <a:t>กล่องของแต่ละหน่วยงาน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7080"/>
                </a:solidFill>
                <a:latin typeface="Tahoma"/>
              </a:rPr>
              <a:t>G1, G2, G3, G4, TRM, 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E2833"/>
                </a:solidFill>
                <a:latin typeface="Tahoma"/>
              </a:rPr>
              <a:t>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88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2833"/>
                </a:solidFill>
                <a:latin typeface="Tahoma"/>
              </a:rPr>
              <a:t>คลิกกล่องไหน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546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7080"/>
                </a:solidFill>
                <a:latin typeface="Tahoma"/>
              </a:rPr>
              <a:t>ระบบจะพาไปหน้า Dashboard ของหน่วยงานนั้น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E2833"/>
                </a:solidFill>
                <a:latin typeface="Tahoma"/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2833"/>
                </a:solidFill>
                <a:latin typeface="Tahoma"/>
              </a:rPr>
              <a:t>เปลี่ยนหน่วยงานได้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7080"/>
                </a:solidFill>
                <a:latin typeface="Tahoma"/>
              </a:rPr>
              <a:t>กดปุ่ม “← กลับหน้าแรก” ที่มุมซ้ายบนของหน้า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4864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8DC3"/>
                </a:solidFill>
                <a:latin typeface="Tahoma"/>
              </a:rPr>
              <a:t>เลือกหน่วยงาน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920240"/>
            <a:ext cx="1554480" cy="1097280"/>
          </a:xfrm>
          <a:prstGeom prst="roundRect">
            <a:avLst>
              <a:gd name="adj" fmla="val 15000"/>
            </a:avLst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1554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G1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920240"/>
            <a:ext cx="1554480" cy="1097280"/>
          </a:xfrm>
          <a:prstGeom prst="roundRect">
            <a:avLst>
              <a:gd name="adj" fmla="val 15000"/>
            </a:avLst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1920240"/>
            <a:ext cx="1554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G2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1920240"/>
            <a:ext cx="1554480" cy="1097280"/>
          </a:xfrm>
          <a:prstGeom prst="roundRect">
            <a:avLst>
              <a:gd name="adj" fmla="val 15000"/>
            </a:avLst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920240"/>
            <a:ext cx="1554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G3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154680"/>
            <a:ext cx="1554480" cy="1097280"/>
          </a:xfrm>
          <a:prstGeom prst="roundRect">
            <a:avLst>
              <a:gd name="adj" fmla="val 15000"/>
            </a:avLst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154680"/>
            <a:ext cx="1554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G4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154680"/>
            <a:ext cx="1554480" cy="1097280"/>
          </a:xfrm>
          <a:prstGeom prst="roundRect">
            <a:avLst>
              <a:gd name="adj" fmla="val 15000"/>
            </a:avLst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3154680"/>
            <a:ext cx="1554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TRM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3154680"/>
            <a:ext cx="1554480" cy="1097280"/>
          </a:xfrm>
          <a:prstGeom prst="roundRect">
            <a:avLst>
              <a:gd name="adj" fmla="val 15000"/>
            </a:avLst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3154680"/>
            <a:ext cx="15544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Tahoma"/>
              </a:rPr>
              <a:t>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080"/>
                </a:solidFill>
                <a:latin typeface="Tahoma"/>
              </a:rPr>
              <a:t>New Operator Monitoring  ·  คู่มือผู้ใช้ CSA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080"/>
                </a:solidFill>
                <a:latin typeface="Tahom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หน้าแรก ② · ภาพรวมทั้งหมด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Tahoma"/>
              </a:rPr>
              <a:t>ส่วนล่างของหน้าแรก สรุปข้อมูลของทุกหน่วยงานในที่เดียว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71455" y="228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71455" y="24688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4E63"/>
                </a:solidFill>
                <a:latin typeface="Tahoma"/>
              </a:rPr>
              <a:t>CSA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127" y="128016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9447" y="1554480"/>
            <a:ext cx="640080" cy="640080"/>
          </a:xfrm>
          <a:prstGeom prst="ellipse">
            <a:avLst/>
          </a:prstGeom>
          <a:solidFill>
            <a:srgbClr val="3B8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447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Tahoma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4E63"/>
                </a:solidFill>
                <a:latin typeface="Tahoma"/>
              </a:rPr>
              <a:t>ตารางสรุป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2697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ดูจำนวนพนักงานทุกหน่วยงาน:</a:t>
            </a:r>
          </a:p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ทั้งหมด / ฝึกเสร็จ / กำลังฝึก /</a:t>
            </a:r>
          </a:p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ลาออก / โอนย้าย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1207" y="128016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5527" y="1554480"/>
            <a:ext cx="640080" cy="640080"/>
          </a:xfrm>
          <a:prstGeom prst="ellipse">
            <a:avLst/>
          </a:prstGeom>
          <a:solidFill>
            <a:srgbClr val="3B8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5527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Tahoma"/>
              </a:rPr>
              <a:t>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7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4E63"/>
                </a:solidFill>
                <a:latin typeface="Tahoma"/>
              </a:rPr>
              <a:t>Data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2697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กราฟวงกลม 4 ตัว + การ์ดสถิติ</a:t>
            </a:r>
          </a:p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+ กราฟแนวโน้มรายเดือน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128016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1554480"/>
            <a:ext cx="640080" cy="640080"/>
          </a:xfrm>
          <a:prstGeom prst="ellipse">
            <a:avLst/>
          </a:prstGeom>
          <a:solidFill>
            <a:srgbClr val="3B8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Tahoma"/>
              </a:rPr>
              <a:t>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4E63"/>
                </a:solidFill>
                <a:latin typeface="Tahoma"/>
              </a:rPr>
              <a:t>ฟิลเตอร์ปี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2697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เลือกปีเพื่อดูข้อมูลเฉพาะปี</a:t>
            </a:r>
          </a:p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หรือ “ทุกปี” เพื่อดูภาพรวม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3367" y="128016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87687" y="1554480"/>
            <a:ext cx="640080" cy="640080"/>
          </a:xfrm>
          <a:prstGeom prst="ellipse">
            <a:avLst/>
          </a:prstGeom>
          <a:solidFill>
            <a:srgbClr val="3B8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7687" y="15544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Tahoma"/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7687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4E63"/>
                </a:solidFill>
                <a:latin typeface="Tahoma"/>
              </a:rPr>
              <a:t>ปุ่ม PNG / 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7687" y="2697480"/>
            <a:ext cx="2194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บันทึกหน้านี้เป็นรูปภาพ</a:t>
            </a:r>
          </a:p>
          <a:p>
            <a:pPr algn="l"/>
            <a:r>
              <a:rPr sz="1200" b="0">
                <a:solidFill>
                  <a:srgbClr val="5A7080"/>
                </a:solidFill>
                <a:latin typeface="Tahoma"/>
              </a:rPr>
              <a:t>หรือไฟล์ PDF ไว้ดูทีหลัง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931920"/>
            <a:ext cx="9997135" cy="2103120"/>
          </a:xfrm>
          <a:prstGeom prst="roundRect">
            <a:avLst>
              <a:gd name="adj" fmla="val 10000"/>
            </a:avLst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16052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ahoma"/>
              </a:rPr>
              <a:t>เปลี่ยนฟิลเตอร์ → ทุกอย่างอัพเดททันที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54880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Tahoma"/>
              </a:rPr>
              <a:t>เมื่อเลือกปีในช่องด้านขวาบน ตารางสรุปและกราฟทุกตัวจะอัพเดทพร้อมกัน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Tahoma"/>
              </a:rPr>
              <a:t>💡 ภาพที่ export ออกมาจะตรงกับฟิลเตอร์ที่ตั้งไว้ทุกครั้ง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080"/>
                </a:solidFill>
                <a:latin typeface="Tahoma"/>
              </a:rPr>
              <a:t>New Operator Monitoring  ·  คู่มือผู้ใช้ CSA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080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หน้า Dashboard ของหน่วยงาน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Tahoma"/>
              </a:rPr>
              <a:t>เปิดดูได้เมื่อคลิกกล่องหน่วยงานที่หน้าแรก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71455" y="228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71455" y="24688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4E63"/>
                </a:solidFill>
                <a:latin typeface="Tahoma"/>
              </a:rPr>
              <a:t>CSA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427" y="1280160"/>
            <a:ext cx="21488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427" y="14173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0E2833"/>
                </a:solidFill>
                <a:latin typeface="Tahom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1993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A7080"/>
                </a:solidFill>
                <a:latin typeface="Tahoma"/>
              </a:rPr>
              <a:t>ทั้งหมด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5427" y="1280160"/>
            <a:ext cx="21488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5427" y="14173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  <a:latin typeface="Tahom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5427" y="1993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A7080"/>
                </a:solidFill>
                <a:latin typeface="Tahoma"/>
              </a:rPr>
              <a:t>ฝึกเสร็จ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2587" y="22677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7080"/>
                </a:solidFill>
                <a:latin typeface="Tahoma"/>
              </a:rPr>
              <a:t>ตรงเวลา · เกินกำหนด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1427" y="1280160"/>
            <a:ext cx="21488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1427" y="14173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Tahom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1427" y="1993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A7080"/>
                </a:solidFill>
                <a:latin typeface="Tahoma"/>
              </a:rPr>
              <a:t>กำลังฝึก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8587" y="22677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7080"/>
                </a:solidFill>
                <a:latin typeface="Tahoma"/>
              </a:rPr>
              <a:t>พื้นฐาน · ขั้นตอนงาน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7427" y="1280160"/>
            <a:ext cx="21488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7427" y="14173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EF4444"/>
                </a:solidFill>
                <a:latin typeface="Tahom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7427" y="1993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A7080"/>
                </a:solidFill>
                <a:latin typeface="Tahoma"/>
              </a:rPr>
              <a:t>การลาออก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587" y="22677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7080"/>
                </a:solidFill>
                <a:latin typeface="Tahoma"/>
              </a:rPr>
              <a:t>ก่อน/ระหว่าง พื้นฐาน · ขั้นตอน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93427" y="1280160"/>
            <a:ext cx="21488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3427" y="14173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7C3AED"/>
                </a:solidFill>
                <a:latin typeface="Tahom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3427" y="1993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5A7080"/>
                </a:solidFill>
                <a:latin typeface="Tahoma"/>
              </a:rPr>
              <a:t>การโอนย้าย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0587" y="22677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A7080"/>
                </a:solidFill>
                <a:latin typeface="Tahoma"/>
              </a:rPr>
              <a:t>ก่อน/ระหว่าง พื้นฐาน · ขั้นตอน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4E63"/>
                </a:solidFill>
                <a:latin typeface="Tahoma"/>
              </a:rPr>
              <a:t>ส่วนต่างๆ ในหน้านี้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66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E2833"/>
                </a:solidFill>
                <a:latin typeface="Tahoma"/>
              </a:rPr>
              <a:t>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566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2833"/>
                </a:solidFill>
                <a:latin typeface="Tahoma"/>
              </a:rPr>
              <a:t>การ์ดสรุปด้านบน 5 ใบ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858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ดูจำนวนพนักงานในแต่ละสถานะของหน่วยงานนี้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E2833"/>
                </a:solidFill>
                <a:latin typeface="Tahoma"/>
              </a:rPr>
              <a:t>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251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2833"/>
                </a:solidFill>
                <a:latin typeface="Tahoma"/>
              </a:rPr>
              <a:t>ค้นหารหัสพนักงาน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544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พิมพ์รหัสในช่องค้นหา จะเปิดหน้าต่างรายละเอียด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9377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E2833"/>
                </a:solidFill>
                <a:latin typeface="Tahoma"/>
              </a:rPr>
              <a:t>🎚️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937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2833"/>
                </a:solidFill>
                <a:latin typeface="Tahoma"/>
              </a:rPr>
              <a:t>ฟิลเตอร์ ปี / สถานะ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2303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เลือกปีหรือสถานะที่สนใจ ตารางจะเฉพาะรายการที่ตรง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E2833"/>
                </a:solidFill>
                <a:latin typeface="Tahoma"/>
              </a:rP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6235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2833"/>
                </a:solidFill>
                <a:latin typeface="Tahoma"/>
              </a:rPr>
              <a:t>ตารางพนักงาน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9161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เลื่อนซ้าย-ขวาเพื่อดูทุกคอลัมน์ของแต่ละคน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3017520"/>
            <a:ext cx="5029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4E63"/>
                </a:solidFill>
                <a:latin typeface="Tahoma"/>
              </a:rPr>
              <a:t>ข้อมูลพนักงาน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3657600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6758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A7080"/>
                </a:solidFill>
                <a:latin typeface="Tahoma"/>
              </a:rPr>
              <a:t>🔍  พิมพ์รหัสพนักงาน...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1160" y="3657600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367588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E2833"/>
                </a:solidFill>
                <a:latin typeface="Tahoma"/>
              </a:rPr>
              <a:t>ทุกปี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78440" y="3657600"/>
            <a:ext cx="9601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78440" y="3675888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E2833"/>
                </a:solidFill>
                <a:latin typeface="Tahoma"/>
              </a:rPr>
              <a:t>สถานะ 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4251960"/>
            <a:ext cx="4480560" cy="27432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42702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ahoma"/>
              </a:rPr>
              <a:t>รหัส   ชื่อ       เกรด   เริ่มฝึก   ครบกำหนด   สถานะ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572000"/>
            <a:ext cx="44805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45902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2833"/>
                </a:solidFill>
                <a:latin typeface="Tahoma"/>
              </a:rPr>
              <a:t>E001   พนักงาน A   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75520" y="4626864"/>
            <a:ext cx="1371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46268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Tahoma"/>
              </a:rPr>
              <a:t>ฝึกเสร็จ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4937760"/>
            <a:ext cx="4480560" cy="320040"/>
          </a:xfrm>
          <a:prstGeom prst="rect">
            <a:avLst/>
          </a:prstGeom>
          <a:solidFill>
            <a:srgbClr val="FA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49560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2833"/>
                </a:solidFill>
                <a:latin typeface="Tahoma"/>
              </a:rPr>
              <a:t>E002   พนักงาน B   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4992624"/>
            <a:ext cx="1371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75520" y="499262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3B82F6"/>
                </a:solidFill>
                <a:latin typeface="Tahoma"/>
              </a:rPr>
              <a:t>กำลังฝึก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5303520"/>
            <a:ext cx="44805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53218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2833"/>
                </a:solidFill>
                <a:latin typeface="Tahoma"/>
              </a:rPr>
              <a:t>E003   พนักงาน C   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75520" y="5358384"/>
            <a:ext cx="1371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0" y="535838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EF4444"/>
                </a:solidFill>
                <a:latin typeface="Tahoma"/>
              </a:rPr>
              <a:t>การลาออก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5669280"/>
            <a:ext cx="4480560" cy="320040"/>
          </a:xfrm>
          <a:prstGeom prst="rect">
            <a:avLst/>
          </a:prstGeom>
          <a:solidFill>
            <a:srgbClr val="FA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56875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2833"/>
                </a:solidFill>
                <a:latin typeface="Tahoma"/>
              </a:rPr>
              <a:t>E004   พนักงาน D   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75520" y="5724144"/>
            <a:ext cx="1371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20" y="572414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Tahoma"/>
              </a:rPr>
              <a:t>การโอนย้าย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080"/>
                </a:solidFill>
                <a:latin typeface="Tahoma"/>
              </a:rPr>
              <a:t>New Operator Monitoring  ·  คู่มือผู้ใช้ CSA Manager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080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สิทธิ์การใช้งาน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Tahoma"/>
              </a:rPr>
              <a:t>CSA Manager ดูข้อมูลได้อย่างเดียว · แก้ไขไม่ได้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71455" y="2286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71455" y="24688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4E63"/>
                </a:solidFill>
                <a:latin typeface="Tahoma"/>
              </a:rPr>
              <a:t>CSA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30352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✓  ทำได้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488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ดูตาราง “ภาพรวมทั้งหมด” ของทุกหน่วยงาน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603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ดูสถิติและกราฟใน Data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71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เปลี่ยนฟิลเตอร์ปีและสถานะตามใจ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832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เปิด Dashboard ของแต่ละหน่วยงาน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94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ค้นหารหัสพนักงาน → ดูรายละเอียด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062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บันทึกหน้าเป็น PNG หรือ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617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เปลี่ยนภาษา (TH / EN / LO / VI)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Tahoma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292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เปลี่ยนธีม สว่าง / มืด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095" y="128016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8095" y="1280160"/>
            <a:ext cx="5303520" cy="6400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095" y="12801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✗  ทำไม่ได้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415" y="2148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Tahoma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3895" y="21488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ลงทะเบียนพนักงานใหม่ (ปุ่ม “ลงทะเบียน” ถูกซ่อน)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415" y="26517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Tahoma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3895" y="26517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แก้ไขข้อมูลในตาราง (ปุ่ม ✏ ถูกซ่อน)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415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Tahoma"/>
              </a:rP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3895" y="31546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บันทึก/อัพเดทข้อมูลในหน้าต่างค้นหา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415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Tahoma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3895" y="365760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เปิดหน้า Admin (เฟือง ⚙ ถูกซ่อน)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415" y="4160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Tahoma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3895" y="41605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0E2833"/>
                </a:solidFill>
                <a:latin typeface="Tahoma"/>
              </a:rPr>
              <a:t>เพิ่ม/ลบวันหยุดพิเศษ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415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ระบบจะซ่อนปุ่มเหล่านี้ให้อัตโนมัติเมื่อเข้าผ่านโหมด CSA 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7080"/>
                </a:solidFill>
                <a:latin typeface="Tahoma"/>
              </a:rPr>
              <a:t>New Operator Monitoring  ·  คู่มือผู้ใช้ CSA Manager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7080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6647" y="594360"/>
            <a:ext cx="1005840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647" y="10515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B4E63"/>
                </a:solidFill>
                <a:latin typeface="Tahoma"/>
              </a:rPr>
              <a:t>เคล็ดลับการใช้งาน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A7080"/>
                </a:solidFill>
                <a:latin typeface="Tahoma"/>
              </a:rPr>
              <a:t>เพื่อให้ใช้งานได้สะดวกขึ้น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9567" y="2423160"/>
            <a:ext cx="4389120" cy="15544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2447" y="2606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0E2833"/>
                </a:solidFill>
                <a:latin typeface="Tahoma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5407" y="25603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4E63"/>
                </a:solidFill>
                <a:latin typeface="Tahoma"/>
              </a:rPr>
              <a:t>เปลี่ยนภาษา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5407" y="30175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คลิกธงด้านขวาบน เพื่อสลับ</a:t>
            </a:r>
          </a:p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ไทย / English / ลาว / Tiếng Việt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423160"/>
            <a:ext cx="4389120" cy="15544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2606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0E2833"/>
                </a:solidFill>
                <a:latin typeface="Tahoma"/>
              </a:rPr>
              <a:t>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8847" y="25603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4E63"/>
                </a:solidFill>
                <a:latin typeface="Tahoma"/>
              </a:rPr>
              <a:t>ธีมมืด / สว่าง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8847" y="30175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คลิกไอคอนพระจันทร์/อาทิตย์</a:t>
            </a:r>
          </a:p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บนแถบด้านขวาบน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69567" y="4206240"/>
            <a:ext cx="4389120" cy="15544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2447" y="4389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0E2833"/>
                </a:solidFill>
                <a:latin typeface="Tahoma"/>
              </a:rPr>
              <a:t>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5407" y="4343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4E63"/>
                </a:solidFill>
                <a:latin typeface="Tahoma"/>
              </a:rPr>
              <a:t>บันทึก PNG /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5407" y="48006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ในหน้าภาพรวม กดปุ่ม PNG/PDF</a:t>
            </a:r>
          </a:p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ไฟล์จะมีปีที่เลือกไว้แสดงด้วย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206240"/>
            <a:ext cx="4389120" cy="1554480"/>
          </a:xfrm>
          <a:prstGeom prst="roundRect">
            <a:avLst>
              <a:gd name="adj" fmla="val 10000"/>
            </a:avLst>
          </a:prstGeom>
          <a:solidFill>
            <a:srgbClr val="F4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389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0E2833"/>
                </a:solidFill>
                <a:latin typeface="Tahoma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847" y="4343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4E63"/>
                </a:solidFill>
                <a:latin typeface="Tahoma"/>
              </a:rPr>
              <a:t>ตัวกรองช่วงเวลา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8847" y="48006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เปลี่ยน “ทุกปี” เป็นปีที่ต้องการ</a:t>
            </a:r>
          </a:p>
          <a:p>
            <a:pPr algn="l"/>
            <a:r>
              <a:rPr sz="1100" b="0">
                <a:solidFill>
                  <a:srgbClr val="5A7080"/>
                </a:solidFill>
                <a:latin typeface="Tahoma"/>
              </a:rPr>
              <a:t>เพื่อดูข้อมูลของช่วงเวลานั้น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Tahoma"/>
              </a:rPr>
              <a:t>สอบถามเพิ่มเติม · ติดต่อทีมไอที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